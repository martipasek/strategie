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999014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057400"/>
            <a:ext cx="8229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One partner for electrical engineering,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switchboard manufacturing, PLC programming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and commissioning </a:t>
            </a:r>
            <a:r>
              <a:rPr sz="3000" b="1">
                <a:solidFill>
                  <a:srgbClr val="19B5C9"/>
                </a:solidFill>
                <a:latin typeface="Calibri"/>
              </a:rPr>
              <a:t>across Europe.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9D2F0"/>
                </a:solidFill>
                <a:latin typeface="Calibri"/>
              </a:rPr>
              <a:t>Proposal for partnership cooperation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9B5C9"/>
                </a:solidFill>
                <a:latin typeface="Calibri"/>
              </a:rPr>
              <a:t>20+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years of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51206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switchboards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5120640"/>
            <a:ext cx="2743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projects delivered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WHY PARTNER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E223A"/>
                </a:solidFill>
                <a:latin typeface="Calibri"/>
              </a:rPr>
              <a:t>Why EUROSOFT?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916936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443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898648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20+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74136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Two decades building switchboards, cabinets, controllers and software service.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697480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81728" y="2916936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9443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98648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Complete turnkey solutions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374136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From electrical design through manufacturing to on-site commissioning - one supplier.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697480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916936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9443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898648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CE &amp; UL certification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374136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Products tested and certified for the European and North-American markets.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5312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4672584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7000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54296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ISO 9001 &amp; TISAX AL2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129784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Certified quality management and audited information security.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45312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1728" y="4672584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47000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654296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Projects across Europe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6592" y="5129784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Delivery and on-site commissioning throughout the EU and beyond.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453128"/>
            <a:ext cx="340156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9328" y="4672584"/>
            <a:ext cx="310896" cy="310896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70001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654296"/>
            <a:ext cx="2578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32C5C"/>
                </a:solidFill>
                <a:latin typeface="Calibri"/>
              </a:rPr>
              <a:t>Fast response, flexible capacity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5129784"/>
            <a:ext cx="2944368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5"/>
                </a:solidFill>
                <a:latin typeface="Calibri"/>
              </a:rPr>
              <a:t>Quick reaction of service and the capacity to scale with your project.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CASE STUDY 01  -  SWITCHBOARD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23A"/>
                </a:solidFill>
                <a:latin typeface="Calibri"/>
              </a:rPr>
              <a:t>From drawings to a tested, certified switchboard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46120" cy="3200400"/>
          </a:xfrm>
          <a:prstGeom prst="round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2788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9B5C9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Switchboard production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E88A1A"/>
                </a:solidFill>
                <a:latin typeface="Calibri"/>
              </a:rPr>
              <a:t>[DOPLNIT: 1 veta o zakaznikovi / odvetvi a rozsahu zakazky]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2798064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0662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jaky problem zakaznik resil]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3877055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785615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0624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co EUROSOFT navrhl, vyrobil, naprogramoval]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4956047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864607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28523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vysledek v cislech - termin, uspora, kapacita, kvalita]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CASE STUDY 02  -  ELECTRICAL DESIGN - E-PLAN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23A"/>
                </a:solidFill>
                <a:latin typeface="Calibri"/>
              </a:rPr>
              <a:t>Electrical projects designed, revised and ready to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46120" cy="3200400"/>
          </a:xfrm>
          <a:prstGeom prst="round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2788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9B5C9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Electrical design - E-plan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E88A1A"/>
                </a:solidFill>
                <a:latin typeface="Calibri"/>
              </a:rPr>
              <a:t>[DOPLNIT: 1 veta o zakaznikovi / odvetvi a rozsahu zakazky]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2798064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0662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jaky problem zakaznik resil]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3877055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785615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0624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co EUROSOFT navrhl, vyrobil, naprogramoval]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4956047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864607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28523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vysledek v cislech - termin, uspora, kapacita, kvalita]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CASE STUDY 03  -  PLC PROGRAMMING &amp; COMMISSIONING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1E223A"/>
                </a:solidFill>
                <a:latin typeface="Calibri"/>
              </a:rPr>
              <a:t>Programmed, commissioned and running on 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246120" cy="3200400"/>
          </a:xfrm>
          <a:prstGeom prst="round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017520"/>
            <a:ext cx="27889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19B5C9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PLC programming &amp; commissioning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E88A1A"/>
                </a:solidFill>
                <a:latin typeface="Calibri"/>
              </a:rPr>
              <a:t>[DOPLNIT: 1 veta o zakaznikovi / odvetvi a rozsahu zakazky]</a:t>
            </a:r>
          </a:p>
        </p:txBody>
      </p:sp>
      <p:sp>
        <p:nvSpPr>
          <p:cNvPr id="8" name="Oval 7"/>
          <p:cNvSpPr/>
          <p:nvPr/>
        </p:nvSpPr>
        <p:spPr>
          <a:xfrm>
            <a:off x="4434840" y="2798064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06624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27248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jaky problem zakaznik resil]</a:t>
            </a:r>
          </a:p>
        </p:txBody>
      </p:sp>
      <p:sp>
        <p:nvSpPr>
          <p:cNvPr id="11" name="Oval 10"/>
          <p:cNvSpPr/>
          <p:nvPr/>
        </p:nvSpPr>
        <p:spPr>
          <a:xfrm>
            <a:off x="4434840" y="3877055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785615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20624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co EUROSOFT navrhl, vyrobil, naprogramoval]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4956047"/>
            <a:ext cx="146304" cy="146304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864607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32C5C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285231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vysledek v cislech - termin, uspora, kapacita, kvalita]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WHAT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E223A"/>
                </a:solidFill>
                <a:latin typeface="Calibri"/>
              </a:rPr>
              <a:t>Scope of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97480"/>
            <a:ext cx="52120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990088"/>
            <a:ext cx="109728" cy="1097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29352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32C5C"/>
                </a:solidFill>
                <a:latin typeface="Calibri"/>
              </a:rPr>
              <a:t>Design &amp; electro-projection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3355848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5"/>
                </a:solidFill>
                <a:latin typeface="Calibri"/>
              </a:rPr>
              <a:t>Design, revisions and modifications of electrical diagrams and drawings - E-plan and other CAD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697480"/>
            <a:ext cx="52120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29400" y="2990088"/>
            <a:ext cx="109728" cy="1097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8" y="293522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32C5C"/>
                </a:solidFill>
                <a:latin typeface="Calibr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8" y="3355848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5"/>
                </a:solidFill>
                <a:latin typeface="Calibri"/>
              </a:rPr>
              <a:t>Manufacturing of switchboards, cabinets, terminal boxes and controllers - incl. full testing on energized equipment and certification (CE, UL).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52120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910328"/>
            <a:ext cx="109728" cy="1097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8554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32C5C"/>
                </a:solidFill>
                <a:latin typeface="Calibri"/>
              </a:rPr>
              <a:t>Installation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5276088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5"/>
                </a:solidFill>
                <a:latin typeface="Calibri"/>
              </a:rPr>
              <a:t>Electrical and mechanical installations incl. commissioning, adjustments and functional testing on the customer's site.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4617720"/>
            <a:ext cx="52120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29400" y="4910328"/>
            <a:ext cx="109728" cy="109728"/>
          </a:xfrm>
          <a:prstGeom prst="ellipse">
            <a:avLst/>
          </a:prstGeom>
          <a:solidFill>
            <a:srgbClr val="19B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8" y="485546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32C5C"/>
                </a:solidFill>
                <a:latin typeface="Calibri"/>
              </a:rPr>
              <a:t>PLC programming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5276088"/>
            <a:ext cx="438912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5"/>
                </a:solidFill>
                <a:latin typeface="Calibri"/>
              </a:rPr>
              <a:t>Design, modification and optimization of PLC programs incl. commissioning - Siemens STEP 7 and TIA Portal.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THE SIZE OF YOUR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Calibri"/>
              </a:rPr>
              <a:t>By the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6265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74320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96265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design engineers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74320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96265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projects delivered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43484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5429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switchboards /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443484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65429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 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service response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434840"/>
            <a:ext cx="3401568" cy="1371600"/>
          </a:xfrm>
          <a:prstGeom prst="roundRect">
            <a:avLst/>
          </a:prstGeom>
          <a:solidFill>
            <a:srgbClr val="2E3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654296"/>
            <a:ext cx="294436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E88A1A"/>
                </a:solidFill>
                <a:latin typeface="Calibri"/>
              </a:rPr>
              <a:t>[DOPLNIT]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9D2F0"/>
                </a:solidFill>
                <a:latin typeface="Calibri"/>
              </a:rPr>
              <a:t>countries -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C9D2F0"/>
                </a:solidFill>
                <a:latin typeface="Calibri"/>
              </a:rPr>
              <a:t>Plus delivery &amp; on-site commissioning across the EU - and flexible capacity to scale with your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WHERE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E223A"/>
                </a:solidFill>
                <a:latin typeface="Calibri"/>
              </a:rPr>
              <a:t>Industries &amp;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INDUSTRIES WE SUPPLY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Automotive industry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Metallurgical &amp; foundry industry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Building materials manufacturing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Industrial cranes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Battery storage manufacturing</a:t>
            </a:r>
          </a:p>
          <a:p>
            <a:pPr algn="l">
              <a:spcAft>
                <a:spcPts val="800"/>
              </a:spcAft>
            </a:pPr>
            <a:r>
              <a:rPr sz="1450" b="1">
                <a:solidFill>
                  <a:srgbClr val="19B5C9"/>
                </a:solidFill>
                <a:latin typeface="Calibri"/>
              </a:rPr>
              <a:t>-  </a:t>
            </a:r>
            <a:r>
              <a:rPr sz="1450" b="0">
                <a:solidFill>
                  <a:srgbClr val="1E223A"/>
                </a:solidFill>
                <a:latin typeface="Calibri"/>
              </a:rPr>
              <a:t>Food &amp; tobacco industry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97480"/>
            <a:ext cx="52120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SELECTED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56432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1">
                <a:solidFill>
                  <a:srgbClr val="E88A1A"/>
                </a:solidFill>
                <a:latin typeface="Calibri"/>
              </a:rPr>
              <a:t>[DOPLNIT: 4-6 vlajkovych referenci (loga / nazvy) + u kazde 1 veta, co jsme delali]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7285"/>
                </a:solidFill>
                <a:latin typeface="Calibri"/>
              </a:rPr>
              <a:t>Tip: ke kazde referenci pridat odvetvi a typ dodavky (rozvadece / E-plan / PLC).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2759093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325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CENTRALLY IN THE 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1" i="0">
                <a:solidFill>
                  <a:srgbClr val="1E223A"/>
                </a:solidFill>
                <a:latin typeface="Calibri"/>
              </a:rPr>
              <a:t>Close to your plants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E223A"/>
                </a:solidFill>
                <a:latin typeface="Calibri"/>
              </a:rPr>
              <a:t>Based in Pilsen, Czech Republic - in the heart of Europe, with short distances to key industrial regions in Germany, Austria, Switzerland and France.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285"/>
                </a:solidFill>
                <a:latin typeface="Calibri"/>
              </a:rPr>
              <a:t>Prague International Airport approx. 1 hour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9748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9B5C9"/>
                </a:solidFill>
                <a:latin typeface="Calibri"/>
              </a:rPr>
              <a:t>DRIVING DISTANCE (approx.)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401568"/>
            <a:ext cx="46634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23A"/>
                </a:solidFill>
                <a:latin typeface="Calibri"/>
              </a:rPr>
              <a:t>Nuremberg (DE)</a:t>
            </a:r>
            <a:r>
              <a:rPr sz="1400" b="0">
                <a:solidFill>
                  <a:srgbClr val="6B7285"/>
                </a:solidFill>
                <a:latin typeface="Calibri"/>
              </a:rPr>
              <a:t>    -    </a:t>
            </a:r>
            <a:r>
              <a:rPr sz="1400" b="1">
                <a:solidFill>
                  <a:srgbClr val="232C5C"/>
                </a:solidFill>
                <a:latin typeface="Calibri"/>
              </a:rPr>
              <a:t>~ 1.5 h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23A"/>
                </a:solidFill>
                <a:latin typeface="Calibri"/>
              </a:rPr>
              <a:t>Munich (DE)</a:t>
            </a:r>
            <a:r>
              <a:rPr sz="1400" b="0">
                <a:solidFill>
                  <a:srgbClr val="6B7285"/>
                </a:solidFill>
                <a:latin typeface="Calibri"/>
              </a:rPr>
              <a:t>    -    </a:t>
            </a:r>
            <a:r>
              <a:rPr sz="1400" b="1">
                <a:solidFill>
                  <a:srgbClr val="232C5C"/>
                </a:solidFill>
                <a:latin typeface="Calibri"/>
              </a:rPr>
              <a:t>~ 2.5 h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23A"/>
                </a:solidFill>
                <a:latin typeface="Calibri"/>
              </a:rPr>
              <a:t>Dresden (DE)</a:t>
            </a:r>
            <a:r>
              <a:rPr sz="1400" b="0">
                <a:solidFill>
                  <a:srgbClr val="6B7285"/>
                </a:solidFill>
                <a:latin typeface="Calibri"/>
              </a:rPr>
              <a:t>    -    </a:t>
            </a:r>
            <a:r>
              <a:rPr sz="1400" b="1">
                <a:solidFill>
                  <a:srgbClr val="232C5C"/>
                </a:solidFill>
                <a:latin typeface="Calibri"/>
              </a:rPr>
              <a:t>~ 2.5 h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23A"/>
                </a:solidFill>
                <a:latin typeface="Calibri"/>
              </a:rPr>
              <a:t>Vienna (AT)</a:t>
            </a:r>
            <a:r>
              <a:rPr sz="1400" b="0">
                <a:solidFill>
                  <a:srgbClr val="6B7285"/>
                </a:solidFill>
                <a:latin typeface="Calibri"/>
              </a:rPr>
              <a:t>    -    </a:t>
            </a:r>
            <a:r>
              <a:rPr sz="1400" b="1">
                <a:solidFill>
                  <a:srgbClr val="232C5C"/>
                </a:solidFill>
                <a:latin typeface="Calibri"/>
              </a:rPr>
              <a:t>~ 4 h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E223A"/>
                </a:solidFill>
                <a:latin typeface="Calibri"/>
              </a:rPr>
              <a:t>Berlin (DE)</a:t>
            </a:r>
            <a:r>
              <a:rPr sz="1400" b="0">
                <a:solidFill>
                  <a:srgbClr val="6B7285"/>
                </a:solidFill>
                <a:latin typeface="Calibri"/>
              </a:rPr>
              <a:t>    -    </a:t>
            </a:r>
            <a:r>
              <a:rPr sz="1400" b="1">
                <a:solidFill>
                  <a:srgbClr val="232C5C"/>
                </a:solidFill>
                <a:latin typeface="Calibri"/>
              </a:rPr>
              <a:t>~ 4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32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7285"/>
                </a:solidFill>
                <a:latin typeface="Calibri"/>
              </a:rPr>
              <a:t>[overit presne casy] - We deliver across the EU.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_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999014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Let's discuss your </a:t>
            </a:r>
            <a:r>
              <a:rPr sz="4400" b="1">
                <a:solidFill>
                  <a:srgbClr val="19B5C9"/>
                </a:solidFill>
                <a:latin typeface="Calibri"/>
              </a:rPr>
              <a:t>next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2F0"/>
                </a:solidFill>
                <a:latin typeface="Calibri"/>
              </a:rPr>
              <a:t>One partner for electrical engineering, switchboard manufacturing, PLC programming and commissioning across Europe.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EUROSOFT - Control s.r.o.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C9D2F0"/>
                </a:solidFill>
                <a:latin typeface="Calibri"/>
              </a:rPr>
              <a:t>Nepomucka 259, 326 00 Pilsen, Czech Republic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C9D2F0"/>
                </a:solidFill>
                <a:latin typeface="Calibri"/>
              </a:rPr>
              <a:t>Switchboard production:  +420 773 738 584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C9D2F0"/>
                </a:solidFill>
                <a:latin typeface="Calibri"/>
              </a:rPr>
              <a:t>Software &amp; installation:  +420 773 738 585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info@eurosoft.com</a:t>
            </a:r>
            <a:r>
              <a:rPr sz="1400" b="0">
                <a:solidFill>
                  <a:srgbClr val="FFFFFF"/>
                </a:solidFill>
                <a:latin typeface="Calibri"/>
              </a:rPr>
              <a:t>     </a:t>
            </a:r>
            <a:r>
              <a:rPr sz="1400" b="1">
                <a:solidFill>
                  <a:srgbClr val="19B5C9"/>
                </a:solidFill>
                <a:latin typeface="Calibri"/>
              </a:rPr>
              <a:t>www.eurosoft.com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